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6"/>
  </p:notesMasterIdLst>
  <p:sldIdLst>
    <p:sldId id="258" r:id="rId5"/>
  </p:sldIdLst>
  <p:sldSz cx="28800425" cy="43200638"/>
  <p:notesSz cx="6877050" cy="965676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506413" indent="-49213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1014413" indent="-100013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522413" indent="-150813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2030413" indent="-201613" algn="l" rtl="0" eaLnBrk="0" fontAlgn="base" hangingPunct="0">
      <a:spcBef>
        <a:spcPct val="0"/>
      </a:spcBef>
      <a:spcAft>
        <a:spcPct val="0"/>
      </a:spcAft>
      <a:defRPr sz="2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6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>
          <p15:clr>
            <a:srgbClr val="A4A3A4"/>
          </p15:clr>
        </p15:guide>
        <p15:guide id="2" pos="907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E1FF"/>
    <a:srgbClr val="0099CC"/>
    <a:srgbClr val="007C9B"/>
    <a:srgbClr val="03007A"/>
    <a:srgbClr val="000072"/>
    <a:srgbClr val="00008A"/>
    <a:srgbClr val="FFFF00"/>
    <a:srgbClr val="00007E"/>
    <a:srgbClr val="0000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91" autoAdjust="0"/>
    <p:restoredTop sz="94795" autoAdjust="0"/>
  </p:normalViewPr>
  <p:slideViewPr>
    <p:cSldViewPr>
      <p:cViewPr>
        <p:scale>
          <a:sx n="33" d="100"/>
          <a:sy n="33" d="100"/>
        </p:scale>
        <p:origin x="774" y="-5868"/>
      </p:cViewPr>
      <p:guideLst>
        <p:guide orient="horz" pos="13607"/>
        <p:guide pos="90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Sem painel (s)</c:v>
                </c:pt>
              </c:strCache>
            </c:strRef>
          </c:tx>
          <c:spPr>
            <a:solidFill>
              <a:srgbClr val="C62828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600" b="1">
                    <a:latin typeface="Arial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Inicialização completa</c:v>
                </c:pt>
                <c:pt idx="1">
                  <c:v>Diag. placa de comunicação</c:v>
                </c:pt>
                <c:pt idx="2">
                  <c:v>Diag. sobrecarga em motor</c:v>
                </c:pt>
                <c:pt idx="3">
                  <c:v>Diag. câmera</c:v>
                </c:pt>
                <c:pt idx="4">
                  <c:v>Diag. IMU</c:v>
                </c:pt>
                <c:pt idx="5">
                  <c:v>Diag. Game Controller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289.44</c:v>
                </c:pt>
                <c:pt idx="1">
                  <c:v>39.799999999999997</c:v>
                </c:pt>
                <c:pt idx="2">
                  <c:v>127.58</c:v>
                </c:pt>
                <c:pt idx="3">
                  <c:v>152.94</c:v>
                </c:pt>
                <c:pt idx="4">
                  <c:v>82.53</c:v>
                </c:pt>
                <c:pt idx="5">
                  <c:v>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10F-47B0-84CC-F6B2A917C8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 painel (s)</c:v>
                </c:pt>
              </c:strCache>
            </c:strRef>
          </c:tx>
          <c:spPr>
            <a:solidFill>
              <a:srgbClr val="007C9B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600" b="1">
                    <a:latin typeface="Arial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Inicialização completa</c:v>
                </c:pt>
                <c:pt idx="1">
                  <c:v>Diag. placa de comunicação</c:v>
                </c:pt>
                <c:pt idx="2">
                  <c:v>Diag. sobrecarga em motor</c:v>
                </c:pt>
                <c:pt idx="3">
                  <c:v>Diag. câmera</c:v>
                </c:pt>
                <c:pt idx="4">
                  <c:v>Diag. IMU</c:v>
                </c:pt>
                <c:pt idx="5">
                  <c:v>Diag. Game Controller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43</c:v>
                </c:pt>
                <c:pt idx="1">
                  <c:v>2</c:v>
                </c:pt>
                <c:pt idx="2">
                  <c:v>2.5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10F-47B0-84CC-F6B2A917C8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-8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2600">
                <a:latin typeface="Arial"/>
              </a:defRPr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4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2600">
              <a:latin typeface="Arial"/>
            </a:defRPr>
          </a:pPr>
          <a:endParaRPr lang="pt-BR"/>
        </a:p>
      </c:txPr>
    </c:legend>
    <c:plotVisOnly val="1"/>
    <c:dispBlanksAs val="gap"/>
    <c:showDLblsOverMax val="1"/>
  </c:chart>
  <c:txPr>
    <a:bodyPr/>
    <a:lstStyle/>
    <a:p>
      <a:pPr>
        <a:defRPr sz="2600">
          <a:solidFill>
            <a:srgbClr val="1F29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9738" cy="484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95725" y="0"/>
            <a:ext cx="2979738" cy="484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695C5E-877E-1A40-9743-7985E2E562E2}" type="datetimeFigureOut">
              <a:rPr lang="pt-BR" smtClean="0"/>
              <a:t>10/10/2026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52675" y="1206500"/>
            <a:ext cx="2171700" cy="32591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7388" y="4646613"/>
            <a:ext cx="5502275" cy="3803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72575"/>
            <a:ext cx="2979738" cy="4841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95725" y="9172575"/>
            <a:ext cx="2979738" cy="4841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BE8F9-74A0-9947-881F-170B2845CE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4915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3B451-D3C3-A506-DE4A-2C5C8C9AA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0D09828-8E69-A077-4B46-3FDF27EB6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AA0601-1D53-A414-296C-4481AD776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AA7E7B-9113-41A2-33FA-C0A34A21B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BE8F9-74A0-9947-881F-170B2845CE5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2358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032" y="13419930"/>
            <a:ext cx="24480362" cy="9259597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20068" y="24481062"/>
            <a:ext cx="20160298" cy="11040142"/>
          </a:xfrm>
        </p:spPr>
        <p:txBody>
          <a:bodyPr/>
          <a:lstStyle>
            <a:lvl1pPr marL="0" indent="0" algn="ctr">
              <a:buNone/>
              <a:defRPr/>
            </a:lvl1pPr>
            <a:lvl2pPr marL="498730" indent="0" algn="ctr">
              <a:buNone/>
              <a:defRPr/>
            </a:lvl2pPr>
            <a:lvl3pPr marL="997458" indent="0" algn="ctr">
              <a:buNone/>
              <a:defRPr/>
            </a:lvl3pPr>
            <a:lvl4pPr marL="1496188" indent="0" algn="ctr">
              <a:buNone/>
              <a:defRPr/>
            </a:lvl4pPr>
            <a:lvl5pPr marL="1994918" indent="0" algn="ctr">
              <a:buNone/>
              <a:defRPr/>
            </a:lvl5pPr>
            <a:lvl6pPr marL="2493647" indent="0" algn="ctr">
              <a:buNone/>
              <a:defRPr/>
            </a:lvl6pPr>
            <a:lvl7pPr marL="2992376" indent="0" algn="ctr">
              <a:buNone/>
              <a:defRPr/>
            </a:lvl7pPr>
            <a:lvl8pPr marL="3491106" indent="0" algn="ctr">
              <a:buNone/>
              <a:defRPr/>
            </a:lvl8pPr>
            <a:lvl9pPr marL="3989835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6C4CBB-B39B-B1FD-456B-B039BBCFA9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A4423E-A087-29B9-585A-F88FCE4381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B343D38-044F-39C1-7FF9-9D8E019FDC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91E2D2-FB73-4F57-9882-A86358D4C89D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86257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F229B6-83A9-897B-12ED-27C41A52E6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1A64ED-88A0-3E74-CC8F-7FF4474072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F09C5F-FF7F-2C0D-20B7-77EC155433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21FB60-023B-462A-962A-70506F80BA3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20959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4579" y="27759707"/>
            <a:ext cx="24480362" cy="8580204"/>
          </a:xfrm>
        </p:spPr>
        <p:txBody>
          <a:bodyPr anchor="t"/>
          <a:lstStyle>
            <a:lvl1pPr algn="l">
              <a:defRPr sz="4363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4579" y="18311178"/>
            <a:ext cx="24480362" cy="9448529"/>
          </a:xfrm>
        </p:spPr>
        <p:txBody>
          <a:bodyPr anchor="b"/>
          <a:lstStyle>
            <a:lvl1pPr marL="0" indent="0">
              <a:buNone/>
              <a:defRPr sz="2181"/>
            </a:lvl1pPr>
            <a:lvl2pPr marL="498730" indent="0">
              <a:buNone/>
              <a:defRPr sz="1964"/>
            </a:lvl2pPr>
            <a:lvl3pPr marL="997458" indent="0">
              <a:buNone/>
              <a:defRPr sz="1745"/>
            </a:lvl3pPr>
            <a:lvl4pPr marL="1496188" indent="0">
              <a:buNone/>
              <a:defRPr sz="1528"/>
            </a:lvl4pPr>
            <a:lvl5pPr marL="1994918" indent="0">
              <a:buNone/>
              <a:defRPr sz="1528"/>
            </a:lvl5pPr>
            <a:lvl6pPr marL="2493647" indent="0">
              <a:buNone/>
              <a:defRPr sz="1528"/>
            </a:lvl6pPr>
            <a:lvl7pPr marL="2992376" indent="0">
              <a:buNone/>
              <a:defRPr sz="1528"/>
            </a:lvl7pPr>
            <a:lvl8pPr marL="3491106" indent="0">
              <a:buNone/>
              <a:defRPr sz="1528"/>
            </a:lvl8pPr>
            <a:lvl9pPr marL="3989835" indent="0">
              <a:buNone/>
              <a:defRPr sz="1528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AF2154-87AD-2BD7-3127-60B1FAB226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C12FD7-AA8A-B982-D62F-FF4E548297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6BEDB3-CB92-A0BF-86B4-6133671279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67D6D7-F0EC-498B-A020-C665DDFD3E7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66302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2160032" y="12479088"/>
            <a:ext cx="12152907" cy="25920000"/>
          </a:xfrm>
        </p:spPr>
        <p:txBody>
          <a:bodyPr/>
          <a:lstStyle>
            <a:lvl1pPr>
              <a:defRPr sz="3054"/>
            </a:lvl1pPr>
            <a:lvl2pPr>
              <a:defRPr sz="2618"/>
            </a:lvl2pPr>
            <a:lvl3pPr>
              <a:defRPr sz="2181"/>
            </a:lvl3pPr>
            <a:lvl4pPr>
              <a:defRPr sz="1964"/>
            </a:lvl4pPr>
            <a:lvl5pPr>
              <a:defRPr sz="1964"/>
            </a:lvl5pPr>
            <a:lvl6pPr>
              <a:defRPr sz="1964"/>
            </a:lvl6pPr>
            <a:lvl7pPr>
              <a:defRPr sz="1964"/>
            </a:lvl7pPr>
            <a:lvl8pPr>
              <a:defRPr sz="1964"/>
            </a:lvl8pPr>
            <a:lvl9pPr>
              <a:defRPr sz="1964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487488" y="12479088"/>
            <a:ext cx="12152907" cy="25920000"/>
          </a:xfrm>
        </p:spPr>
        <p:txBody>
          <a:bodyPr/>
          <a:lstStyle>
            <a:lvl1pPr>
              <a:defRPr sz="3054"/>
            </a:lvl1pPr>
            <a:lvl2pPr>
              <a:defRPr sz="2618"/>
            </a:lvl2pPr>
            <a:lvl3pPr>
              <a:defRPr sz="2181"/>
            </a:lvl3pPr>
            <a:lvl4pPr>
              <a:defRPr sz="1964"/>
            </a:lvl4pPr>
            <a:lvl5pPr>
              <a:defRPr sz="1964"/>
            </a:lvl5pPr>
            <a:lvl6pPr>
              <a:defRPr sz="1964"/>
            </a:lvl6pPr>
            <a:lvl7pPr>
              <a:defRPr sz="1964"/>
            </a:lvl7pPr>
            <a:lvl8pPr>
              <a:defRPr sz="1964"/>
            </a:lvl8pPr>
            <a:lvl9pPr>
              <a:defRPr sz="1964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77E158-F137-7F89-9053-7FDB7BA67A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34ADEC-A062-160E-42A6-B20AC7AC2F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548FC0-919F-94DB-58D6-414730EE3F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FA165A-59DF-4A8A-A8B0-E83CBCA096AF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91262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0025" y="1730929"/>
            <a:ext cx="25920383" cy="7198516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40024" y="9669906"/>
            <a:ext cx="12725643" cy="4030558"/>
          </a:xfrm>
        </p:spPr>
        <p:txBody>
          <a:bodyPr anchor="b"/>
          <a:lstStyle>
            <a:lvl1pPr marL="0" indent="0">
              <a:buNone/>
              <a:defRPr sz="2618" b="1"/>
            </a:lvl1pPr>
            <a:lvl2pPr marL="498730" indent="0">
              <a:buNone/>
              <a:defRPr sz="2181" b="1"/>
            </a:lvl2pPr>
            <a:lvl3pPr marL="997458" indent="0">
              <a:buNone/>
              <a:defRPr sz="1964" b="1"/>
            </a:lvl3pPr>
            <a:lvl4pPr marL="1496188" indent="0">
              <a:buNone/>
              <a:defRPr sz="1745" b="1"/>
            </a:lvl4pPr>
            <a:lvl5pPr marL="1994918" indent="0">
              <a:buNone/>
              <a:defRPr sz="1745" b="1"/>
            </a:lvl5pPr>
            <a:lvl6pPr marL="2493647" indent="0">
              <a:buNone/>
              <a:defRPr sz="1745" b="1"/>
            </a:lvl6pPr>
            <a:lvl7pPr marL="2992376" indent="0">
              <a:buNone/>
              <a:defRPr sz="1745" b="1"/>
            </a:lvl7pPr>
            <a:lvl8pPr marL="3491106" indent="0">
              <a:buNone/>
              <a:defRPr sz="1745" b="1"/>
            </a:lvl8pPr>
            <a:lvl9pPr marL="3989835" indent="0">
              <a:buNone/>
              <a:defRPr sz="1745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40024" y="13700467"/>
            <a:ext cx="12725643" cy="24889460"/>
          </a:xfrm>
        </p:spPr>
        <p:txBody>
          <a:bodyPr/>
          <a:lstStyle>
            <a:lvl1pPr>
              <a:defRPr sz="2618"/>
            </a:lvl1pPr>
            <a:lvl2pPr>
              <a:defRPr sz="2181"/>
            </a:lvl2pPr>
            <a:lvl3pPr>
              <a:defRPr sz="1964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1126" y="9669906"/>
            <a:ext cx="12729278" cy="4030558"/>
          </a:xfrm>
        </p:spPr>
        <p:txBody>
          <a:bodyPr anchor="b"/>
          <a:lstStyle>
            <a:lvl1pPr marL="0" indent="0">
              <a:buNone/>
              <a:defRPr sz="2618" b="1"/>
            </a:lvl1pPr>
            <a:lvl2pPr marL="498730" indent="0">
              <a:buNone/>
              <a:defRPr sz="2181" b="1"/>
            </a:lvl2pPr>
            <a:lvl3pPr marL="997458" indent="0">
              <a:buNone/>
              <a:defRPr sz="1964" b="1"/>
            </a:lvl3pPr>
            <a:lvl4pPr marL="1496188" indent="0">
              <a:buNone/>
              <a:defRPr sz="1745" b="1"/>
            </a:lvl4pPr>
            <a:lvl5pPr marL="1994918" indent="0">
              <a:buNone/>
              <a:defRPr sz="1745" b="1"/>
            </a:lvl5pPr>
            <a:lvl6pPr marL="2493647" indent="0">
              <a:buNone/>
              <a:defRPr sz="1745" b="1"/>
            </a:lvl6pPr>
            <a:lvl7pPr marL="2992376" indent="0">
              <a:buNone/>
              <a:defRPr sz="1745" b="1"/>
            </a:lvl7pPr>
            <a:lvl8pPr marL="3491106" indent="0">
              <a:buNone/>
              <a:defRPr sz="1745" b="1"/>
            </a:lvl8pPr>
            <a:lvl9pPr marL="3989835" indent="0">
              <a:buNone/>
              <a:defRPr sz="1745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1126" y="13700467"/>
            <a:ext cx="12729278" cy="24889460"/>
          </a:xfrm>
        </p:spPr>
        <p:txBody>
          <a:bodyPr/>
          <a:lstStyle>
            <a:lvl1pPr>
              <a:defRPr sz="2618"/>
            </a:lvl1pPr>
            <a:lvl2pPr>
              <a:defRPr sz="2181"/>
            </a:lvl2pPr>
            <a:lvl3pPr>
              <a:defRPr sz="1964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F3A0192-3EA5-42E5-0110-DD41FE2131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0F1A536-63B5-F87B-3299-479D63A1DF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932FE3E-15A5-B926-7130-872FE8EE06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10DD9B-0093-474B-8B43-9E28CE79176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64658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65CDF52-5A95-2A0A-82A6-F6F7FB2E7D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0DECE5D-70C0-DCFD-0A38-C61305EEEB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D54245C-5A8F-4A9B-9EAE-AD91BA8473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F472A8-1D5C-4F4A-A3B1-F10A9BCA8EE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26081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B6DE1B5-218B-44FC-9995-D904585AC5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81BC6CE-6081-9B64-129E-A2EF06A2DA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B92CCE8-BE73-69B4-D131-903A3044AE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52E06B-017F-4F96-87A9-2971904FD0D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27950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40021" y="1719479"/>
            <a:ext cx="9474686" cy="7320655"/>
          </a:xfrm>
        </p:spPr>
        <p:txBody>
          <a:bodyPr anchor="b"/>
          <a:lstStyle>
            <a:lvl1pPr algn="l">
              <a:defRPr sz="2181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60167" y="1719476"/>
            <a:ext cx="16100236" cy="36870448"/>
          </a:xfrm>
        </p:spPr>
        <p:txBody>
          <a:bodyPr/>
          <a:lstStyle>
            <a:lvl1pPr>
              <a:defRPr sz="3490"/>
            </a:lvl1pPr>
            <a:lvl2pPr>
              <a:defRPr sz="3054"/>
            </a:lvl2pPr>
            <a:lvl3pPr>
              <a:defRPr sz="2618"/>
            </a:lvl3pPr>
            <a:lvl4pPr>
              <a:defRPr sz="2181"/>
            </a:lvl4pPr>
            <a:lvl5pPr>
              <a:defRPr sz="2181"/>
            </a:lvl5pPr>
            <a:lvl6pPr>
              <a:defRPr sz="2181"/>
            </a:lvl6pPr>
            <a:lvl7pPr>
              <a:defRPr sz="2181"/>
            </a:lvl7pPr>
            <a:lvl8pPr>
              <a:defRPr sz="2181"/>
            </a:lvl8pPr>
            <a:lvl9pPr>
              <a:defRPr sz="2181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40021" y="9040131"/>
            <a:ext cx="9474686" cy="29549793"/>
          </a:xfrm>
        </p:spPr>
        <p:txBody>
          <a:bodyPr/>
          <a:lstStyle>
            <a:lvl1pPr marL="0" indent="0">
              <a:buNone/>
              <a:defRPr sz="1528"/>
            </a:lvl1pPr>
            <a:lvl2pPr marL="498730" indent="0">
              <a:buNone/>
              <a:defRPr sz="1309"/>
            </a:lvl2pPr>
            <a:lvl3pPr marL="997458" indent="0">
              <a:buNone/>
              <a:defRPr sz="1091"/>
            </a:lvl3pPr>
            <a:lvl4pPr marL="1496188" indent="0">
              <a:buNone/>
              <a:defRPr sz="981"/>
            </a:lvl4pPr>
            <a:lvl5pPr marL="1994918" indent="0">
              <a:buNone/>
              <a:defRPr sz="981"/>
            </a:lvl5pPr>
            <a:lvl6pPr marL="2493647" indent="0">
              <a:buNone/>
              <a:defRPr sz="981"/>
            </a:lvl6pPr>
            <a:lvl7pPr marL="2992376" indent="0">
              <a:buNone/>
              <a:defRPr sz="981"/>
            </a:lvl7pPr>
            <a:lvl8pPr marL="3491106" indent="0">
              <a:buNone/>
              <a:defRPr sz="981"/>
            </a:lvl8pPr>
            <a:lvl9pPr marL="3989835" indent="0">
              <a:buNone/>
              <a:defRPr sz="98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B6EE1F-A16F-C4CC-5261-E8F1A01AD6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E58B68-5B19-3B65-536E-89EDED9F01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817FAE-7084-E8F4-9B1D-52E4FCB1C6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D0A32B-037D-4084-A909-9226EDE4704F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60128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5538" y="30240641"/>
            <a:ext cx="17280255" cy="3570633"/>
          </a:xfrm>
        </p:spPr>
        <p:txBody>
          <a:bodyPr anchor="b"/>
          <a:lstStyle>
            <a:lvl1pPr algn="l">
              <a:defRPr sz="2181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5538" y="3860715"/>
            <a:ext cx="17280255" cy="25920000"/>
          </a:xfrm>
        </p:spPr>
        <p:txBody>
          <a:bodyPr/>
          <a:lstStyle>
            <a:lvl1pPr marL="0" indent="0">
              <a:buNone/>
              <a:defRPr sz="3490"/>
            </a:lvl1pPr>
            <a:lvl2pPr marL="498730" indent="0">
              <a:buNone/>
              <a:defRPr sz="3054"/>
            </a:lvl2pPr>
            <a:lvl3pPr marL="997458" indent="0">
              <a:buNone/>
              <a:defRPr sz="2618"/>
            </a:lvl3pPr>
            <a:lvl4pPr marL="1496188" indent="0">
              <a:buNone/>
              <a:defRPr sz="2181"/>
            </a:lvl4pPr>
            <a:lvl5pPr marL="1994918" indent="0">
              <a:buNone/>
              <a:defRPr sz="2181"/>
            </a:lvl5pPr>
            <a:lvl6pPr marL="2493647" indent="0">
              <a:buNone/>
              <a:defRPr sz="2181"/>
            </a:lvl6pPr>
            <a:lvl7pPr marL="2992376" indent="0">
              <a:buNone/>
              <a:defRPr sz="2181"/>
            </a:lvl7pPr>
            <a:lvl8pPr marL="3491106" indent="0">
              <a:buNone/>
              <a:defRPr sz="2181"/>
            </a:lvl8pPr>
            <a:lvl9pPr marL="3989835" indent="0">
              <a:buNone/>
              <a:defRPr sz="2181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5538" y="33811271"/>
            <a:ext cx="17280255" cy="5068731"/>
          </a:xfrm>
        </p:spPr>
        <p:txBody>
          <a:bodyPr/>
          <a:lstStyle>
            <a:lvl1pPr marL="0" indent="0">
              <a:buNone/>
              <a:defRPr sz="1528"/>
            </a:lvl1pPr>
            <a:lvl2pPr marL="498730" indent="0">
              <a:buNone/>
              <a:defRPr sz="1309"/>
            </a:lvl2pPr>
            <a:lvl3pPr marL="997458" indent="0">
              <a:buNone/>
              <a:defRPr sz="1091"/>
            </a:lvl3pPr>
            <a:lvl4pPr marL="1496188" indent="0">
              <a:buNone/>
              <a:defRPr sz="981"/>
            </a:lvl4pPr>
            <a:lvl5pPr marL="1994918" indent="0">
              <a:buNone/>
              <a:defRPr sz="981"/>
            </a:lvl5pPr>
            <a:lvl6pPr marL="2493647" indent="0">
              <a:buNone/>
              <a:defRPr sz="981"/>
            </a:lvl6pPr>
            <a:lvl7pPr marL="2992376" indent="0">
              <a:buNone/>
              <a:defRPr sz="981"/>
            </a:lvl7pPr>
            <a:lvl8pPr marL="3491106" indent="0">
              <a:buNone/>
              <a:defRPr sz="981"/>
            </a:lvl8pPr>
            <a:lvl9pPr marL="3989835" indent="0">
              <a:buNone/>
              <a:defRPr sz="98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391E3-51DA-21F2-F0EE-F2CF668B98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DC155E-FDD9-DE9F-A812-DD1371C78C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5CC5D7-2F7A-8D0D-805F-8EFBEE04A6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D2F585-C32A-4DEB-ABD6-23CDC16F96C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49444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F9C68C4-7936-5D7A-F04C-2378DFA340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EA65EA0-43CD-C862-0971-A63AB2B411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2F2FB6-FBC7-D678-0986-B83E4D9AD9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92C637-B6CC-411B-B472-3DEF2686CFC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958561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520309" y="3839720"/>
            <a:ext cx="6120090" cy="3455936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2160033" y="3839720"/>
            <a:ext cx="18185723" cy="3455936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44E04E-0B85-9AA1-55A5-A16C915BF3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BA731C-8E3E-FB9B-E695-07D11BFC10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9F21635-3D5C-827D-4296-BA5BFCA614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AFE09B-3017-4164-84F7-6E0B432D5D5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1060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66EC356-94E5-ACC8-4E7E-C391DF33FF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160588" y="3838575"/>
            <a:ext cx="24479250" cy="720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9017" tIns="174508" rIns="349017" bIns="17450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1C22245-8B80-2E45-BE31-79F2FF03F5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160588" y="12479338"/>
            <a:ext cx="24479250" cy="259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49017" tIns="174508" rIns="349017" bIns="17450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7C2933E-5DE5-1887-678A-8681CE7AF23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60588" y="39362063"/>
            <a:ext cx="5999162" cy="28781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349017" tIns="174508" rIns="349017" bIns="174508" numCol="1" anchor="t" anchorCtr="0" compatLnSpc="1">
            <a:prstTxWarp prst="textNoShape">
              <a:avLst/>
            </a:prstTxWarp>
          </a:bodyPr>
          <a:lstStyle>
            <a:lvl1pPr>
              <a:defRPr sz="5890">
                <a:latin typeface="Times New Roman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145BD3A-323F-1DBB-15E5-B65B0FC13A6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39325" y="39362063"/>
            <a:ext cx="9121775" cy="28781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349017" tIns="174508" rIns="349017" bIns="174508" numCol="1" anchor="t" anchorCtr="0" compatLnSpc="1">
            <a:prstTxWarp prst="textNoShape">
              <a:avLst/>
            </a:prstTxWarp>
          </a:bodyPr>
          <a:lstStyle>
            <a:lvl1pPr algn="ctr">
              <a:defRPr sz="5890">
                <a:latin typeface="Times New Roman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99F8FA3-E50B-F9A1-99F6-39B4E4CA0EE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40675" y="39362063"/>
            <a:ext cx="5999163" cy="28781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349017" tIns="174508" rIns="349017" bIns="174508" numCol="1" anchor="t" anchorCtr="0" compatLnSpc="1">
            <a:prstTxWarp prst="textNoShape">
              <a:avLst/>
            </a:prstTxWarp>
          </a:bodyPr>
          <a:lstStyle>
            <a:lvl1pPr algn="r">
              <a:defRPr sz="5800" smtClean="0"/>
            </a:lvl1pPr>
          </a:lstStyle>
          <a:p>
            <a:pPr>
              <a:defRPr/>
            </a:pPr>
            <a:fld id="{98133173-F134-4C14-8E5E-2ED8E649660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805238" rtl="0" eaLnBrk="0" fontAlgn="base" hangingPunct="0">
        <a:spcBef>
          <a:spcPct val="0"/>
        </a:spcBef>
        <a:spcAft>
          <a:spcPct val="0"/>
        </a:spcAft>
        <a:defRPr sz="183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805238" rtl="0" eaLnBrk="0" fontAlgn="base" hangingPunct="0">
        <a:spcBef>
          <a:spcPct val="0"/>
        </a:spcBef>
        <a:spcAft>
          <a:spcPct val="0"/>
        </a:spcAft>
        <a:defRPr sz="18300">
          <a:solidFill>
            <a:schemeClr val="tx2"/>
          </a:solidFill>
          <a:latin typeface="Times New Roman"/>
        </a:defRPr>
      </a:lvl2pPr>
      <a:lvl3pPr algn="ctr" defTabSz="3805238" rtl="0" eaLnBrk="0" fontAlgn="base" hangingPunct="0">
        <a:spcBef>
          <a:spcPct val="0"/>
        </a:spcBef>
        <a:spcAft>
          <a:spcPct val="0"/>
        </a:spcAft>
        <a:defRPr sz="18300">
          <a:solidFill>
            <a:schemeClr val="tx2"/>
          </a:solidFill>
          <a:latin typeface="Times New Roman"/>
        </a:defRPr>
      </a:lvl3pPr>
      <a:lvl4pPr algn="ctr" defTabSz="3805238" rtl="0" eaLnBrk="0" fontAlgn="base" hangingPunct="0">
        <a:spcBef>
          <a:spcPct val="0"/>
        </a:spcBef>
        <a:spcAft>
          <a:spcPct val="0"/>
        </a:spcAft>
        <a:defRPr sz="18300">
          <a:solidFill>
            <a:schemeClr val="tx2"/>
          </a:solidFill>
          <a:latin typeface="Times New Roman"/>
        </a:defRPr>
      </a:lvl4pPr>
      <a:lvl5pPr algn="ctr" defTabSz="3805238" rtl="0" eaLnBrk="0" fontAlgn="base" hangingPunct="0">
        <a:spcBef>
          <a:spcPct val="0"/>
        </a:spcBef>
        <a:spcAft>
          <a:spcPct val="0"/>
        </a:spcAft>
        <a:defRPr sz="18300">
          <a:solidFill>
            <a:schemeClr val="tx2"/>
          </a:solidFill>
          <a:latin typeface="Times New Roman"/>
        </a:defRPr>
      </a:lvl5pPr>
      <a:lvl6pPr marL="498730" algn="ctr" defTabSz="3806275" rtl="0" eaLnBrk="0" fontAlgn="base" hangingPunct="0">
        <a:spcBef>
          <a:spcPct val="0"/>
        </a:spcBef>
        <a:spcAft>
          <a:spcPct val="0"/>
        </a:spcAft>
        <a:defRPr sz="18326">
          <a:solidFill>
            <a:schemeClr val="tx2"/>
          </a:solidFill>
          <a:latin typeface="Times New Roman"/>
        </a:defRPr>
      </a:lvl6pPr>
      <a:lvl7pPr marL="997458" algn="ctr" defTabSz="3806275" rtl="0" eaLnBrk="0" fontAlgn="base" hangingPunct="0">
        <a:spcBef>
          <a:spcPct val="0"/>
        </a:spcBef>
        <a:spcAft>
          <a:spcPct val="0"/>
        </a:spcAft>
        <a:defRPr sz="18326">
          <a:solidFill>
            <a:schemeClr val="tx2"/>
          </a:solidFill>
          <a:latin typeface="Times New Roman"/>
        </a:defRPr>
      </a:lvl7pPr>
      <a:lvl8pPr marL="1496188" algn="ctr" defTabSz="3806275" rtl="0" eaLnBrk="0" fontAlgn="base" hangingPunct="0">
        <a:spcBef>
          <a:spcPct val="0"/>
        </a:spcBef>
        <a:spcAft>
          <a:spcPct val="0"/>
        </a:spcAft>
        <a:defRPr sz="18326">
          <a:solidFill>
            <a:schemeClr val="tx2"/>
          </a:solidFill>
          <a:latin typeface="Times New Roman"/>
        </a:defRPr>
      </a:lvl8pPr>
      <a:lvl9pPr marL="1994918" algn="ctr" defTabSz="3806275" rtl="0" eaLnBrk="0" fontAlgn="base" hangingPunct="0">
        <a:spcBef>
          <a:spcPct val="0"/>
        </a:spcBef>
        <a:spcAft>
          <a:spcPct val="0"/>
        </a:spcAft>
        <a:defRPr sz="18326">
          <a:solidFill>
            <a:schemeClr val="tx2"/>
          </a:solidFill>
          <a:latin typeface="Times New Roman"/>
        </a:defRPr>
      </a:lvl9pPr>
    </p:titleStyle>
    <p:bodyStyle>
      <a:lvl1pPr marL="1425575" indent="-1425575" algn="l" defTabSz="3805238" rtl="0" eaLnBrk="0" fontAlgn="base" hangingPunct="0">
        <a:spcBef>
          <a:spcPct val="20000"/>
        </a:spcBef>
        <a:spcAft>
          <a:spcPct val="0"/>
        </a:spcAft>
        <a:buChar char="•"/>
        <a:defRPr sz="13400">
          <a:solidFill>
            <a:schemeClr val="tx1"/>
          </a:solidFill>
          <a:latin typeface="+mn-lt"/>
          <a:ea typeface="+mn-ea"/>
          <a:cs typeface="+mn-cs"/>
        </a:defRPr>
      </a:lvl1pPr>
      <a:lvl2pPr marL="3092450" indent="-1187450" algn="l" defTabSz="3805238" rtl="0" eaLnBrk="0" fontAlgn="base" hangingPunct="0">
        <a:spcBef>
          <a:spcPct val="20000"/>
        </a:spcBef>
        <a:spcAft>
          <a:spcPct val="0"/>
        </a:spcAft>
        <a:buChar char="–"/>
        <a:defRPr sz="11600">
          <a:solidFill>
            <a:schemeClr val="tx1"/>
          </a:solidFill>
          <a:latin typeface="+mn-lt"/>
        </a:defRPr>
      </a:lvl2pPr>
      <a:lvl3pPr marL="4757738" indent="-950913" algn="l" defTabSz="3805238" rtl="0" eaLnBrk="0" fontAlgn="base" hangingPunct="0">
        <a:spcBef>
          <a:spcPct val="20000"/>
        </a:spcBef>
        <a:spcAft>
          <a:spcPct val="0"/>
        </a:spcAft>
        <a:buChar char="•"/>
        <a:defRPr sz="9900">
          <a:solidFill>
            <a:schemeClr val="tx1"/>
          </a:solidFill>
          <a:latin typeface="+mn-lt"/>
        </a:defRPr>
      </a:lvl3pPr>
      <a:lvl4pPr marL="6661150" indent="-949325" algn="l" defTabSz="3805238" rtl="0" eaLnBrk="0" fontAlgn="base" hangingPunct="0">
        <a:spcBef>
          <a:spcPct val="20000"/>
        </a:spcBef>
        <a:spcAft>
          <a:spcPct val="0"/>
        </a:spcAft>
        <a:buChar char="–"/>
        <a:defRPr sz="8200">
          <a:solidFill>
            <a:schemeClr val="tx1"/>
          </a:solidFill>
          <a:latin typeface="+mn-lt"/>
        </a:defRPr>
      </a:lvl4pPr>
      <a:lvl5pPr marL="8566150" indent="-950913" algn="l" defTabSz="3805238" rtl="0" eaLnBrk="0" fontAlgn="base" hangingPunct="0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5pPr>
      <a:lvl6pPr marL="9065446" indent="-952435" algn="l" defTabSz="3806275" rtl="0" eaLnBrk="0" fontAlgn="base" hangingPunct="0">
        <a:spcBef>
          <a:spcPct val="20000"/>
        </a:spcBef>
        <a:spcAft>
          <a:spcPct val="0"/>
        </a:spcAft>
        <a:buChar char="»"/>
        <a:defRPr sz="8291">
          <a:solidFill>
            <a:schemeClr val="tx1"/>
          </a:solidFill>
          <a:latin typeface="+mn-lt"/>
        </a:defRPr>
      </a:lvl6pPr>
      <a:lvl7pPr marL="9564176" indent="-952435" algn="l" defTabSz="3806275" rtl="0" eaLnBrk="0" fontAlgn="base" hangingPunct="0">
        <a:spcBef>
          <a:spcPct val="20000"/>
        </a:spcBef>
        <a:spcAft>
          <a:spcPct val="0"/>
        </a:spcAft>
        <a:buChar char="»"/>
        <a:defRPr sz="8291">
          <a:solidFill>
            <a:schemeClr val="tx1"/>
          </a:solidFill>
          <a:latin typeface="+mn-lt"/>
        </a:defRPr>
      </a:lvl7pPr>
      <a:lvl8pPr marL="10062905" indent="-952435" algn="l" defTabSz="3806275" rtl="0" eaLnBrk="0" fontAlgn="base" hangingPunct="0">
        <a:spcBef>
          <a:spcPct val="20000"/>
        </a:spcBef>
        <a:spcAft>
          <a:spcPct val="0"/>
        </a:spcAft>
        <a:buChar char="»"/>
        <a:defRPr sz="8291">
          <a:solidFill>
            <a:schemeClr val="tx1"/>
          </a:solidFill>
          <a:latin typeface="+mn-lt"/>
        </a:defRPr>
      </a:lvl8pPr>
      <a:lvl9pPr marL="10561634" indent="-952435" algn="l" defTabSz="3806275" rtl="0" eaLnBrk="0" fontAlgn="base" hangingPunct="0">
        <a:spcBef>
          <a:spcPct val="20000"/>
        </a:spcBef>
        <a:spcAft>
          <a:spcPct val="0"/>
        </a:spcAft>
        <a:buChar char="»"/>
        <a:defRPr sz="8291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97458" rtl="0" eaLnBrk="1" latinLnBrk="0" hangingPunct="1">
        <a:defRPr sz="1964" kern="1200">
          <a:solidFill>
            <a:schemeClr val="tx1"/>
          </a:solidFill>
          <a:latin typeface="+mn-lt"/>
          <a:ea typeface="+mn-ea"/>
          <a:cs typeface="+mn-cs"/>
        </a:defRPr>
      </a:lvl1pPr>
      <a:lvl2pPr marL="498730" algn="l" defTabSz="997458" rtl="0" eaLnBrk="1" latinLnBrk="0" hangingPunct="1">
        <a:defRPr sz="1964" kern="1200">
          <a:solidFill>
            <a:schemeClr val="tx1"/>
          </a:solidFill>
          <a:latin typeface="+mn-lt"/>
          <a:ea typeface="+mn-ea"/>
          <a:cs typeface="+mn-cs"/>
        </a:defRPr>
      </a:lvl2pPr>
      <a:lvl3pPr marL="997458" algn="l" defTabSz="997458" rtl="0" eaLnBrk="1" latinLnBrk="0" hangingPunct="1">
        <a:defRPr sz="1964" kern="1200">
          <a:solidFill>
            <a:schemeClr val="tx1"/>
          </a:solidFill>
          <a:latin typeface="+mn-lt"/>
          <a:ea typeface="+mn-ea"/>
          <a:cs typeface="+mn-cs"/>
        </a:defRPr>
      </a:lvl3pPr>
      <a:lvl4pPr marL="1496188" algn="l" defTabSz="997458" rtl="0" eaLnBrk="1" latinLnBrk="0" hangingPunct="1">
        <a:defRPr sz="1964" kern="1200">
          <a:solidFill>
            <a:schemeClr val="tx1"/>
          </a:solidFill>
          <a:latin typeface="+mn-lt"/>
          <a:ea typeface="+mn-ea"/>
          <a:cs typeface="+mn-cs"/>
        </a:defRPr>
      </a:lvl4pPr>
      <a:lvl5pPr marL="1994918" algn="l" defTabSz="997458" rtl="0" eaLnBrk="1" latinLnBrk="0" hangingPunct="1">
        <a:defRPr sz="1964" kern="1200">
          <a:solidFill>
            <a:schemeClr val="tx1"/>
          </a:solidFill>
          <a:latin typeface="+mn-lt"/>
          <a:ea typeface="+mn-ea"/>
          <a:cs typeface="+mn-cs"/>
        </a:defRPr>
      </a:lvl5pPr>
      <a:lvl6pPr marL="2493647" algn="l" defTabSz="997458" rtl="0" eaLnBrk="1" latinLnBrk="0" hangingPunct="1">
        <a:defRPr sz="1964" kern="1200">
          <a:solidFill>
            <a:schemeClr val="tx1"/>
          </a:solidFill>
          <a:latin typeface="+mn-lt"/>
          <a:ea typeface="+mn-ea"/>
          <a:cs typeface="+mn-cs"/>
        </a:defRPr>
      </a:lvl6pPr>
      <a:lvl7pPr marL="2992376" algn="l" defTabSz="997458" rtl="0" eaLnBrk="1" latinLnBrk="0" hangingPunct="1">
        <a:defRPr sz="1964" kern="1200">
          <a:solidFill>
            <a:schemeClr val="tx1"/>
          </a:solidFill>
          <a:latin typeface="+mn-lt"/>
          <a:ea typeface="+mn-ea"/>
          <a:cs typeface="+mn-cs"/>
        </a:defRPr>
      </a:lvl7pPr>
      <a:lvl8pPr marL="3491106" algn="l" defTabSz="997458" rtl="0" eaLnBrk="1" latinLnBrk="0" hangingPunct="1">
        <a:defRPr sz="1964" kern="1200">
          <a:solidFill>
            <a:schemeClr val="tx1"/>
          </a:solidFill>
          <a:latin typeface="+mn-lt"/>
          <a:ea typeface="+mn-ea"/>
          <a:cs typeface="+mn-cs"/>
        </a:defRPr>
      </a:lvl8pPr>
      <a:lvl9pPr marL="3989835" algn="l" defTabSz="997458" rtl="0" eaLnBrk="1" latinLnBrk="0" hangingPunct="1">
        <a:defRPr sz="19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chart" Target="../charts/chart1.xml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5DB75-76A4-70C2-FEA6-A72BDCBEE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3276C4FB-C53E-695D-DA62-4A016FDE52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" t="56812" b="13631"/>
          <a:stretch>
            <a:fillRect/>
          </a:stretch>
        </p:blipFill>
        <p:spPr bwMode="auto">
          <a:xfrm>
            <a:off x="0" y="0"/>
            <a:ext cx="28800424" cy="573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C15D3A16-4937-C73A-8739-7ED1D60A70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4836" y="3971127"/>
            <a:ext cx="3874527" cy="740685"/>
          </a:xfrm>
          <a:prstGeom prst="rect">
            <a:avLst/>
          </a:prstGeom>
        </p:spPr>
      </p:pic>
      <p:pic>
        <p:nvPicPr>
          <p:cNvPr id="11" name="Imagem 10" descr="Uma imagem contendo Logotipo&#10;&#10;O conteúdo gerado por IA pode estar incorreto.">
            <a:extLst>
              <a:ext uri="{FF2B5EF4-FFF2-40B4-BE49-F238E27FC236}">
                <a16:creationId xmlns:a16="http://schemas.microsoft.com/office/drawing/2014/main" id="{E0A76704-708A-81B8-A5CB-7A5A9A8147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3988" y="10439079"/>
            <a:ext cx="7772400" cy="1485833"/>
          </a:xfrm>
          <a:prstGeom prst="rect">
            <a:avLst/>
          </a:prstGeom>
        </p:spPr>
      </p:pic>
      <p:sp>
        <p:nvSpPr>
          <p:cNvPr id="18" name="Line 33">
            <a:extLst>
              <a:ext uri="{FF2B5EF4-FFF2-40B4-BE49-F238E27FC236}">
                <a16:creationId xmlns:a16="http://schemas.microsoft.com/office/drawing/2014/main" id="{E4FA5538-0BA4-15CC-2E50-F4FEC7FDA8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49" y="41381364"/>
            <a:ext cx="27492325" cy="0"/>
          </a:xfrm>
          <a:prstGeom prst="line">
            <a:avLst/>
          </a:prstGeom>
          <a:noFill/>
          <a:ln w="127000">
            <a:solidFill>
              <a:srgbClr val="007C9B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pt-BR" sz="2851"/>
          </a:p>
        </p:txBody>
      </p:sp>
      <p:sp>
        <p:nvSpPr>
          <p:cNvPr id="19" name="CaixaDeTexto 1">
            <a:extLst>
              <a:ext uri="{FF2B5EF4-FFF2-40B4-BE49-F238E27FC236}">
                <a16:creationId xmlns:a16="http://schemas.microsoft.com/office/drawing/2014/main" id="{A87F6DD0-CEE4-D3E9-9394-1A35CB6724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6" y="41566453"/>
            <a:ext cx="22646337" cy="14922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pt-BR" altLang="pt-BR" sz="3927" b="1" dirty="0">
                <a:solidFill>
                  <a:srgbClr val="0099CC"/>
                </a:solidFill>
                <a:latin typeface="Arial" panose="020B0604020202020204" pitchFamily="34" charset="0"/>
              </a:rPr>
              <a:t>Agradecimentos: </a:t>
            </a:r>
            <a:r>
              <a:rPr lang="pt-BR" altLang="pt-BR" sz="3927" dirty="0">
                <a:latin typeface="Arial" panose="020B0604020202020204" pitchFamily="34" charset="0"/>
              </a:rPr>
              <a:t>RoboFEI Humanoid e ao Centro Universitário da FEI.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E08E704-E111-0095-6CAA-90965A7372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71" t="57524" r="35825" b="25265"/>
          <a:stretch>
            <a:fillRect/>
          </a:stretch>
        </p:blipFill>
        <p:spPr>
          <a:xfrm>
            <a:off x="1870820" y="3209078"/>
            <a:ext cx="4480716" cy="100697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7EA6C40-4044-A84C-F5A7-1BC3E0C081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5" r="8983" b="33443"/>
          <a:stretch>
            <a:fillRect/>
          </a:stretch>
        </p:blipFill>
        <p:spPr>
          <a:xfrm>
            <a:off x="708383" y="1942135"/>
            <a:ext cx="6325958" cy="1636568"/>
          </a:xfrm>
          <a:prstGeom prst="rect">
            <a:avLst/>
          </a:prstGeom>
        </p:spPr>
      </p:pic>
      <p:sp>
        <p:nvSpPr>
          <p:cNvPr id="12" name="Text Box 11">
            <a:extLst>
              <a:ext uri="{FF2B5EF4-FFF2-40B4-BE49-F238E27FC236}">
                <a16:creationId xmlns:a16="http://schemas.microsoft.com/office/drawing/2014/main" id="{29008DB3-BBDC-8A85-7BD6-1E77C93BB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1536" y="1046163"/>
            <a:ext cx="16257588" cy="1326083"/>
          </a:xfrm>
          <a:prstGeom prst="rect">
            <a:avLst/>
          </a:prstGeom>
          <a:noFill/>
          <a:ln>
            <a:noFill/>
          </a:ln>
        </p:spPr>
        <p:txBody>
          <a:bodyPr wrap="square" lIns="94056" tIns="47029" rIns="94056" bIns="47029">
            <a:spAutoFit/>
          </a:bodyPr>
          <a:lstStyle>
            <a:lvl1pPr defTabSz="862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2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2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2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2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2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2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2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2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pt-BR" altLang="pt-BR" sz="4000" b="1" dirty="0">
                <a:solidFill>
                  <a:schemeClr val="bg1"/>
                </a:solidFill>
                <a:latin typeface="Arial" panose="020B0604020202020204" pitchFamily="34" charset="0"/>
              </a:rPr>
              <a:t>DESENVOLVIMENTO DE UM PAINEL DE CONTROLE E COMANDO PARA O GERENCIAMENTO DE ROBÔS HUMANOIDES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0B6FB1ED-ABDF-3596-8D40-E6FCBF6DD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5880" y="2846452"/>
            <a:ext cx="15328900" cy="10743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defTabSz="862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862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862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862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862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862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862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862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862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pt-BR" sz="392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Leonardo Aparecido da Silva</a:t>
            </a:r>
            <a:r>
              <a:rPr lang="pt-BR" sz="3927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pt-BR" sz="392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Reinaldo Augusto da C. Bianchi</a:t>
            </a:r>
            <a:r>
              <a:rPr lang="pt-BR" sz="3927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pt-BR" sz="3927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>
              <a:defRPr/>
            </a:pPr>
            <a:r>
              <a:rPr lang="pt-BR" sz="3054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pt-BR" sz="3054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Engenharia Elétrica, Centro Universitário FEI</a:t>
            </a:r>
          </a:p>
        </p:txBody>
      </p:sp>
      <p:sp>
        <p:nvSpPr>
          <p:cNvPr id="15" name="CaixaDeTexto 2">
            <a:extLst>
              <a:ext uri="{FF2B5EF4-FFF2-40B4-BE49-F238E27FC236}">
                <a16:creationId xmlns:a16="http://schemas.microsoft.com/office/drawing/2014/main" id="{AE93989A-1690-D71C-EBC4-440509412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37316" y="1214502"/>
            <a:ext cx="3582047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pt-BR" altLang="pt-BR" sz="6800" dirty="0">
                <a:solidFill>
                  <a:schemeClr val="bg1"/>
                </a:solidFill>
                <a:latin typeface="Arial" panose="020B0604020202020204" pitchFamily="34" charset="0"/>
              </a:rPr>
              <a:t>1795963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0E9F33A-723D-86AC-9BCD-F9818AB6B261}"/>
              </a:ext>
            </a:extLst>
          </p:cNvPr>
          <p:cNvSpPr txBox="1"/>
          <p:nvPr/>
        </p:nvSpPr>
        <p:spPr>
          <a:xfrm>
            <a:off x="795091" y="7301081"/>
            <a:ext cx="2721023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	Os robôs humanoides da equipe RoboFEI dependem de um mini PC (NUC) para executar processos via ROS 2. Como o gerenciamento ocorre por terminal, exige-se o uso de monitor, teclado, mouse e cabo HDMI, ou de um notebook via SSH para a execução das tarefas. Além disso, o diagnóstico de falhas eletrônicas depende principalmente de inspeção visual. Para facilitar esse processo, este trabalho apresenta um painel de controle e comando baseado no microcontrolador STM32U575CGT6. O sistema envia comandos e monitora, por meio de LEDs, os nós do ROS 2 e as conexões elétricas principais, o que dispensa o uso de equipamentos adicionais e otimiza o tempo das operações.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C6119-1D86-9F29-34BE-233B12DA0EB4}"/>
              </a:ext>
            </a:extLst>
          </p:cNvPr>
          <p:cNvSpPr txBox="1"/>
          <p:nvPr/>
        </p:nvSpPr>
        <p:spPr>
          <a:xfrm>
            <a:off x="12900440" y="6120881"/>
            <a:ext cx="29995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b="1" dirty="0">
                <a:solidFill>
                  <a:srgbClr val="0000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RESUMO</a:t>
            </a:r>
          </a:p>
        </p:txBody>
      </p:sp>
      <p:sp>
        <p:nvSpPr>
          <p:cNvPr id="10" name="Line 33">
            <a:extLst>
              <a:ext uri="{FF2B5EF4-FFF2-40B4-BE49-F238E27FC236}">
                <a16:creationId xmlns:a16="http://schemas.microsoft.com/office/drawing/2014/main" id="{C7EB5EB2-2FCE-70D3-D32F-DA046605CB8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383" y="11591207"/>
            <a:ext cx="27492325" cy="0"/>
          </a:xfrm>
          <a:prstGeom prst="line">
            <a:avLst/>
          </a:prstGeom>
          <a:noFill/>
          <a:ln w="127000">
            <a:solidFill>
              <a:srgbClr val="007C9B"/>
            </a:solidFill>
            <a:round/>
            <a:headEnd/>
            <a:tailEnd/>
          </a:ln>
        </p:spPr>
        <p:txBody>
          <a:bodyPr numCol="2"/>
          <a:lstStyle/>
          <a:p>
            <a:pPr algn="ctr">
              <a:defRPr/>
            </a:pPr>
            <a:endParaRPr lang="pt-BR" sz="2851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C2633A2-1EB7-5446-7D5A-89E5E600BB17}"/>
              </a:ext>
            </a:extLst>
          </p:cNvPr>
          <p:cNvSpPr txBox="1"/>
          <p:nvPr/>
        </p:nvSpPr>
        <p:spPr>
          <a:xfrm>
            <a:off x="4443554" y="11956511"/>
            <a:ext cx="572746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b="1" dirty="0">
                <a:solidFill>
                  <a:srgbClr val="0000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METODOLOGIA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529D8F7-7ABF-3D62-05B6-E6A6108EF80B}"/>
              </a:ext>
            </a:extLst>
          </p:cNvPr>
          <p:cNvSpPr txBox="1"/>
          <p:nvPr/>
        </p:nvSpPr>
        <p:spPr>
          <a:xfrm>
            <a:off x="18629407" y="11923416"/>
            <a:ext cx="521912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000" b="1" dirty="0">
                <a:solidFill>
                  <a:srgbClr val="0000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RESULTADOS</a:t>
            </a:r>
          </a:p>
        </p:txBody>
      </p:sp>
      <p:sp>
        <p:nvSpPr>
          <p:cNvPr id="23" name="Line 33">
            <a:extLst>
              <a:ext uri="{FF2B5EF4-FFF2-40B4-BE49-F238E27FC236}">
                <a16:creationId xmlns:a16="http://schemas.microsoft.com/office/drawing/2014/main" id="{E5C729EE-0A53-4F3E-42F4-D9BA2F14595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314244" y="12818285"/>
            <a:ext cx="85967" cy="27535900"/>
          </a:xfrm>
          <a:prstGeom prst="line">
            <a:avLst/>
          </a:prstGeom>
          <a:noFill/>
          <a:ln w="127000">
            <a:solidFill>
              <a:srgbClr val="007C9B"/>
            </a:solidFill>
            <a:round/>
            <a:headEnd/>
            <a:tailEnd/>
          </a:ln>
        </p:spPr>
        <p:txBody>
          <a:bodyPr numCol="2"/>
          <a:lstStyle/>
          <a:p>
            <a:pPr algn="ctr">
              <a:defRPr/>
            </a:pPr>
            <a:endParaRPr lang="pt-BR" sz="2851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2F58F03-D1BF-A20F-7B01-7C3DF8F8DA21}"/>
              </a:ext>
            </a:extLst>
          </p:cNvPr>
          <p:cNvSpPr txBox="1"/>
          <p:nvPr/>
        </p:nvSpPr>
        <p:spPr>
          <a:xfrm>
            <a:off x="878355" y="13082655"/>
            <a:ext cx="128578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	Originalmente, o gerenciamento dos nós do ROS 2, responsáveis pela decisão e controle do robô, é feito por comandos enviados ao computador do sistema pelos terminais do Linux. Isso exige um laptop e cabo de rede (SSH), ou mouse, teclado e monitor conectados ao robô (Figura 1). Consequentemente, há uma grande necessidade de espaço e de equipamentos para a operação, além de um tempo médio de 289s para executá-la.</a:t>
            </a:r>
            <a:endParaRPr lang="pt-BR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Imagem 27" descr="Computador em cima da mesa&#10;&#10;O conteúdo gerado por IA pode estar incorreto.">
            <a:extLst>
              <a:ext uri="{FF2B5EF4-FFF2-40B4-BE49-F238E27FC236}">
                <a16:creationId xmlns:a16="http://schemas.microsoft.com/office/drawing/2014/main" id="{630CDB31-2167-C5ED-8CA2-8CA8EC79AA4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019" y="18900054"/>
            <a:ext cx="11017417" cy="8263062"/>
          </a:xfrm>
          <a:prstGeom prst="rect">
            <a:avLst/>
          </a:prstGeom>
          <a:noFill/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BBC1DFEC-E623-5ABE-0074-EB8E5BACEDC7}"/>
              </a:ext>
            </a:extLst>
          </p:cNvPr>
          <p:cNvSpPr txBox="1"/>
          <p:nvPr/>
        </p:nvSpPr>
        <p:spPr>
          <a:xfrm>
            <a:off x="878355" y="28199095"/>
            <a:ext cx="1285786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	A fim de reduzir o tempo empregado no envio de comandos e no diagnóstico de falhas elétricas e de software, bem como melhorar a portabilidade diminuindo a quantidade de </a:t>
            </a:r>
            <a:r>
              <a:rPr kumimoji="0" lang="pt-BR" sz="4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hardware</a:t>
            </a:r>
            <a:r>
              <a:rPr kumimoji="0" lang="pt-BR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desenvolveu-se uma placa de circuito impresso no </a:t>
            </a:r>
            <a:r>
              <a:rPr kumimoji="0" lang="pt-BR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KiCad</a:t>
            </a:r>
            <a:r>
              <a:rPr kumimoji="0" lang="pt-BR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utilizando o microcontrolador STM32U575CGT6 (Figura 2). </a:t>
            </a:r>
            <a:endParaRPr lang="pt-BR" sz="4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D265A83-2EA2-E87F-12E1-A5A7D316B826}"/>
              </a:ext>
            </a:extLst>
          </p:cNvPr>
          <p:cNvSpPr txBox="1"/>
          <p:nvPr/>
        </p:nvSpPr>
        <p:spPr>
          <a:xfrm>
            <a:off x="1798577" y="27343421"/>
            <a:ext cx="113063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Figura 1 – Infraestrutura necessária para operar o robô sem o painel. </a:t>
            </a: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EA1C3484-B58E-4834-A17E-518CA67414B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82" r="29583"/>
          <a:stretch>
            <a:fillRect/>
          </a:stretch>
        </p:blipFill>
        <p:spPr>
          <a:xfrm>
            <a:off x="7596300" y="32073869"/>
            <a:ext cx="6533830" cy="7651376"/>
          </a:xfrm>
          <a:prstGeom prst="rect">
            <a:avLst/>
          </a:prstGeom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20E83C9A-BE32-97CA-7424-55A0EE409E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82" r="29583"/>
          <a:stretch>
            <a:fillRect/>
          </a:stretch>
        </p:blipFill>
        <p:spPr>
          <a:xfrm>
            <a:off x="878355" y="32073868"/>
            <a:ext cx="6533831" cy="7651377"/>
          </a:xfrm>
          <a:prstGeom prst="rect">
            <a:avLst/>
          </a:prstGeom>
        </p:spPr>
      </p:pic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A4D9821D-C932-CF42-1BCE-D1FD2F818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141574"/>
              </p:ext>
            </p:extLst>
          </p:nvPr>
        </p:nvGraphicFramePr>
        <p:xfrm>
          <a:off x="16163303" y="20325085"/>
          <a:ext cx="10694103" cy="450006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75475">
                  <a:extLst>
                    <a:ext uri="{9D8B030D-6E8A-4147-A177-3AD203B41FA5}">
                      <a16:colId xmlns:a16="http://schemas.microsoft.com/office/drawing/2014/main" val="398649722"/>
                    </a:ext>
                  </a:extLst>
                </a:gridCol>
                <a:gridCol w="4059314">
                  <a:extLst>
                    <a:ext uri="{9D8B030D-6E8A-4147-A177-3AD203B41FA5}">
                      <a16:colId xmlns:a16="http://schemas.microsoft.com/office/drawing/2014/main" val="3122681676"/>
                    </a:ext>
                  </a:extLst>
                </a:gridCol>
                <a:gridCol w="4059314">
                  <a:extLst>
                    <a:ext uri="{9D8B030D-6E8A-4147-A177-3AD203B41FA5}">
                      <a16:colId xmlns:a16="http://schemas.microsoft.com/office/drawing/2014/main" val="1242355538"/>
                    </a:ext>
                  </a:extLst>
                </a:gridCol>
              </a:tblGrid>
              <a:tr h="7380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Botão</a:t>
                      </a:r>
                      <a:endParaRPr lang="pt-BR" sz="4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7C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Acionamento</a:t>
                      </a:r>
                      <a:endParaRPr lang="pt-BR" sz="4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7C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1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Função</a:t>
                      </a:r>
                      <a:endParaRPr lang="pt-BR" sz="40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7C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667465"/>
                  </a:ext>
                </a:extLst>
              </a:tr>
              <a:tr h="62700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pt-BR" sz="4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9E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clique</a:t>
                      </a:r>
                      <a:endParaRPr lang="pt-BR" sz="4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9E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Posição 1</a:t>
                      </a:r>
                      <a:endParaRPr lang="pt-BR" sz="4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9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7615328"/>
                  </a:ext>
                </a:extLst>
              </a:tr>
              <a:tr h="62700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pt-BR" sz="4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cliques</a:t>
                      </a:r>
                      <a:endParaRPr lang="pt-BR" sz="4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Macarena</a:t>
                      </a:r>
                      <a:endParaRPr lang="pt-BR" sz="4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899613"/>
                  </a:ext>
                </a:extLst>
              </a:tr>
              <a:tr h="62700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pt-BR" sz="4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9E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Segurar (2s)</a:t>
                      </a:r>
                      <a:endParaRPr lang="pt-BR" sz="4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9E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Gamecontroller</a:t>
                      </a:r>
                    </a:p>
                  </a:txBody>
                  <a:tcPr marL="9525" marR="9525" marT="9525" marB="0" anchor="ctr">
                    <a:solidFill>
                      <a:srgbClr val="C9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425663"/>
                  </a:ext>
                </a:extLst>
              </a:tr>
              <a:tr h="62700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pt-BR" sz="4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clique</a:t>
                      </a:r>
                      <a:endParaRPr lang="pt-BR" sz="4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Decisão</a:t>
                      </a:r>
                      <a:endParaRPr lang="pt-BR" sz="4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831246"/>
                  </a:ext>
                </a:extLst>
              </a:tr>
              <a:tr h="62700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pt-BR" sz="4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9E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cliques</a:t>
                      </a:r>
                      <a:endParaRPr lang="pt-BR" sz="4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9E1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Controle</a:t>
                      </a:r>
                      <a:endParaRPr lang="pt-BR" sz="4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C9E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152339"/>
                  </a:ext>
                </a:extLst>
              </a:tr>
              <a:tr h="62700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pt-BR" sz="4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Segurar (2s)</a:t>
                      </a:r>
                      <a:endParaRPr lang="pt-BR" sz="4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40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Robot Bringup</a:t>
                      </a: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881217"/>
                  </a:ext>
                </a:extLst>
              </a:tr>
            </a:tbl>
          </a:graphicData>
        </a:graphic>
      </p:graphicFrame>
      <p:sp>
        <p:nvSpPr>
          <p:cNvPr id="49" name="CaixaDeTexto 48">
            <a:extLst>
              <a:ext uri="{FF2B5EF4-FFF2-40B4-BE49-F238E27FC236}">
                <a16:creationId xmlns:a16="http://schemas.microsoft.com/office/drawing/2014/main" id="{24B65775-BFB1-48C9-40B1-7F21DBBB8B6D}"/>
              </a:ext>
            </a:extLst>
          </p:cNvPr>
          <p:cNvSpPr txBox="1"/>
          <p:nvPr/>
        </p:nvSpPr>
        <p:spPr>
          <a:xfrm>
            <a:off x="14810035" y="35985593"/>
            <a:ext cx="1285786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pt-BR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Em suma, o painel de controle com o STM32U575CGT6 centraliza e simplifica a operação dos robôs humanoides de forma viável. Em conjunto com o ROS 2, elimina a dependência de periféricos e agiliza o diagnóstico de falhas por meio de LEDs, facilitando o uso por toda a equipe. Como trabalho futuro, sugere-se embarcar o </a:t>
            </a:r>
            <a:r>
              <a:rPr lang="pt-BR" sz="4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Micro-ROS</a:t>
            </a:r>
            <a:r>
              <a:rPr lang="pt-BR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reduzir a carga de processamento do NUC.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4738F13-05A6-807A-DD57-CF3E930EB5E4}"/>
              </a:ext>
            </a:extLst>
          </p:cNvPr>
          <p:cNvSpPr txBox="1"/>
          <p:nvPr/>
        </p:nvSpPr>
        <p:spPr>
          <a:xfrm>
            <a:off x="14810035" y="13082655"/>
            <a:ext cx="1285786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0" lang="pt-BR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	A placa foi projetada para ser conectada diretamente à porta USB do NUC, sendo alimentada e trocando dados por meio de um único cabo. Utilizando um protocolo binário com enquadramento e </a:t>
            </a:r>
            <a:r>
              <a:rPr kumimoji="0" lang="pt-BR" sz="4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checksum</a:t>
            </a:r>
            <a:r>
              <a:rPr kumimoji="0" lang="pt-BR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ela atua como ponte entre o operador e o robô, facilitando o uso. O dispositivo conta com 7 LEDs, que </a:t>
            </a:r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indicam o estado do </a:t>
            </a:r>
            <a:r>
              <a:rPr lang="pt-BR" sz="4000" i="1" dirty="0" err="1">
                <a:latin typeface="Arial" panose="020B0604020202020204" pitchFamily="34" charset="0"/>
                <a:cs typeface="Arial" panose="020B0604020202020204" pitchFamily="34" charset="0"/>
              </a:rPr>
              <a:t>bringup</a:t>
            </a:r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, da placa de comunicação, da câmera, da IMU, da localização, da sobrecarga nos motores e do </a:t>
            </a:r>
            <a:r>
              <a:rPr lang="pt-BR" sz="4000" i="1" dirty="0">
                <a:latin typeface="Arial" panose="020B0604020202020204" pitchFamily="34" charset="0"/>
                <a:cs typeface="Arial" panose="020B0604020202020204" pitchFamily="34" charset="0"/>
              </a:rPr>
              <a:t>Gamecontroller</a:t>
            </a:r>
            <a:r>
              <a:rPr lang="pt-BR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Além de</a:t>
            </a:r>
            <a:r>
              <a:rPr kumimoji="0" lang="pt-BR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2 botões multifuncionais, </a:t>
            </a:r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conforme detalhado na Tabela 1.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5DEF88A-A902-C7E4-A0BB-DF5079D1EC36}"/>
              </a:ext>
            </a:extLst>
          </p:cNvPr>
          <p:cNvSpPr txBox="1"/>
          <p:nvPr/>
        </p:nvSpPr>
        <p:spPr>
          <a:xfrm>
            <a:off x="3735091" y="40477466"/>
            <a:ext cx="77224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Figura 2 – Placa de circuito impresso do painel. 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5B8582B-AEAA-5F08-8294-3A6AAACCC5D0}"/>
              </a:ext>
            </a:extLst>
          </p:cNvPr>
          <p:cNvSpPr txBox="1"/>
          <p:nvPr/>
        </p:nvSpPr>
        <p:spPr>
          <a:xfrm>
            <a:off x="2581608" y="39826780"/>
            <a:ext cx="3127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(a) Face superior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DA6A9E5-AAA9-0E82-FECF-2D7E5615A625}"/>
              </a:ext>
            </a:extLst>
          </p:cNvPr>
          <p:cNvSpPr txBox="1"/>
          <p:nvPr/>
        </p:nvSpPr>
        <p:spPr>
          <a:xfrm>
            <a:off x="9299553" y="39826780"/>
            <a:ext cx="3127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(b) Face inferior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D2FB2AD-1472-C490-BE05-1445431E1E2B}"/>
              </a:ext>
            </a:extLst>
          </p:cNvPr>
          <p:cNvSpPr txBox="1"/>
          <p:nvPr/>
        </p:nvSpPr>
        <p:spPr>
          <a:xfrm>
            <a:off x="17819567" y="19689131"/>
            <a:ext cx="6838800" cy="52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Tabela 1 – Função dos botões do painel</a:t>
            </a:r>
          </a:p>
        </p:txBody>
      </p:sp>
      <p:graphicFrame>
        <p:nvGraphicFramePr>
          <p:cNvPr id="37" name="grafico-tempos">
            <a:extLst>
              <a:ext uri="{FF2B5EF4-FFF2-40B4-BE49-F238E27FC236}">
                <a16:creationId xmlns:a16="http://schemas.microsoft.com/office/drawing/2014/main" id="{40AD573E-2D5A-899D-59BA-B1EC44FFF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4559"/>
              </p:ext>
            </p:extLst>
          </p:nvPr>
        </p:nvGraphicFramePr>
        <p:xfrm>
          <a:off x="14523823" y="28567187"/>
          <a:ext cx="14142314" cy="5632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42" name="CaixaDeTexto 41">
            <a:extLst>
              <a:ext uri="{FF2B5EF4-FFF2-40B4-BE49-F238E27FC236}">
                <a16:creationId xmlns:a16="http://schemas.microsoft.com/office/drawing/2014/main" id="{1D3427E9-FB47-177F-C619-CB871834F931}"/>
              </a:ext>
            </a:extLst>
          </p:cNvPr>
          <p:cNvSpPr txBox="1"/>
          <p:nvPr/>
        </p:nvSpPr>
        <p:spPr>
          <a:xfrm>
            <a:off x="18985419" y="34876748"/>
            <a:ext cx="521912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5000" b="1" dirty="0">
                <a:solidFill>
                  <a:srgbClr val="00007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CONCLUSÃO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0C726B9A-9A6A-AFE7-1138-1B4FEC8E1A26}"/>
              </a:ext>
            </a:extLst>
          </p:cNvPr>
          <p:cNvSpPr txBox="1"/>
          <p:nvPr/>
        </p:nvSpPr>
        <p:spPr>
          <a:xfrm>
            <a:off x="14810035" y="24781535"/>
            <a:ext cx="1285786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4000" b="0" i="0" u="none" strike="noStrike" baseline="0" dirty="0">
                <a:solidFill>
                  <a:srgbClr val="1F2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A Figura 3 compara os tempos estimados por simulação em ROS2, medido com cinco participantes. Com o painel, a inicialização completa cai de cerca de 289s para 43s, uma redução de </a:t>
            </a:r>
            <a:r>
              <a:rPr lang="pt-BR" sz="4000" b="1" i="0" u="none" strike="noStrike" baseline="0" dirty="0">
                <a:solidFill>
                  <a:srgbClr val="007C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85%</a:t>
            </a:r>
            <a:r>
              <a:rPr lang="pt-BR" sz="4000" b="0" i="0" u="none" strike="noStrike" baseline="0" dirty="0">
                <a:solidFill>
                  <a:srgbClr val="1F2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O diagnóstico de falhas cai para cerca de 2s, uma redução média de </a:t>
            </a:r>
            <a:r>
              <a:rPr lang="pt-BR" sz="4000" b="1" i="0" u="none" strike="noStrike" baseline="0" dirty="0">
                <a:solidFill>
                  <a:srgbClr val="007C9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97%</a:t>
            </a:r>
            <a:r>
              <a:rPr lang="pt-BR" sz="4000" b="0" i="0" u="none" strike="noStrike" baseline="0" dirty="0">
                <a:solidFill>
                  <a:srgbClr val="1F2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pt-BR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FF8E8901-36D9-8885-C525-91CF2417C074}"/>
              </a:ext>
            </a:extLst>
          </p:cNvPr>
          <p:cNvSpPr txBox="1"/>
          <p:nvPr/>
        </p:nvSpPr>
        <p:spPr>
          <a:xfrm>
            <a:off x="15358405" y="34106457"/>
            <a:ext cx="147256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Figura 3 – </a:t>
            </a:r>
            <a:r>
              <a:rPr lang="pt-BR" sz="2800" dirty="0">
                <a:latin typeface="Arial"/>
              </a:rPr>
              <a:t>Comparativo de tempo de execução das tarefas com e sem o painel 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243653"/>
      </p:ext>
    </p:extLst>
  </p:cSld>
  <p:clrMapOvr>
    <a:masterClrMapping/>
  </p:clrMapOvr>
</p:sld>
</file>

<file path=ppt/theme/theme1.xml><?xml version="1.0" encoding="utf-8"?>
<a:theme xmlns:a="http://schemas.openxmlformats.org/drawingml/2006/main" name="Estrutura padrão">
  <a:themeElements>
    <a:clrScheme name="Estrutura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/>
          </a:defRPr>
        </a:defPPr>
      </a:lstStyle>
    </a:lnDef>
  </a:objectDefaults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fc0df58-64cf-470b-9082-f660fa19999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214CD2F38BAF489BC887AD9C042712" ma:contentTypeVersion="6" ma:contentTypeDescription="Create a new document." ma:contentTypeScope="" ma:versionID="aac44b031bb00c41f7032c8b96c551b2">
  <xsd:schema xmlns:xsd="http://www.w3.org/2001/XMLSchema" xmlns:xs="http://www.w3.org/2001/XMLSchema" xmlns:p="http://schemas.microsoft.com/office/2006/metadata/properties" xmlns:ns3="6fc0df58-64cf-470b-9082-f660fa199991" targetNamespace="http://schemas.microsoft.com/office/2006/metadata/properties" ma:root="true" ma:fieldsID="e11b84dd3ba1c88876ec24a6eaeef0fa" ns3:_="">
    <xsd:import namespace="6fc0df58-64cf-470b-9082-f660fa19999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c0df58-64cf-470b-9082-f660fa1999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36E49D-63F1-4B09-87B9-EB5A63F7297E}">
  <ds:schemaRefs>
    <ds:schemaRef ds:uri="http://schemas.microsoft.com/office/2006/documentManagement/types"/>
    <ds:schemaRef ds:uri="http://purl.org/dc/dcmitype/"/>
    <ds:schemaRef ds:uri="http://www.w3.org/XML/1998/namespace"/>
    <ds:schemaRef ds:uri="6fc0df58-64cf-470b-9082-f660fa199991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1DD3472-FC1A-4C67-9D2A-F446EE05C8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4D269E-BFFE-4001-B072-566BC4C14C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c0df58-64cf-470b-9082-f660fa1999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4301</TotalTime>
  <Words>624</Words>
  <Application>Microsoft Office PowerPoint</Application>
  <PresentationFormat>Personalizar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Arial</vt:lpstr>
      <vt:lpstr>Times New Roman</vt:lpstr>
      <vt:lpstr>Estrutura padrão</vt:lpstr>
      <vt:lpstr>Apresentação do PowerPoint</vt:lpstr>
    </vt:vector>
  </TitlesOfParts>
  <Company>Fundação de Ciências Aplicadas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sem título</dc:title>
  <dc:creator>rodrmagn</dc:creator>
  <cp:lastModifiedBy>LEONARDO APARECIDO DA SILVA</cp:lastModifiedBy>
  <cp:revision>130</cp:revision>
  <cp:lastPrinted>2015-10-14T23:48:22Z</cp:lastPrinted>
  <dcterms:created xsi:type="dcterms:W3CDTF">2001-07-12T12:01:23Z</dcterms:created>
  <dcterms:modified xsi:type="dcterms:W3CDTF">2026-10-11T00:20:54Z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0x01010057214CD2F38BAF489BC887AD9C042712</vt:lpwstr>
  </property>
</Properties>
</file>